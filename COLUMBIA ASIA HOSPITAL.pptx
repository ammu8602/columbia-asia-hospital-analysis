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6" r:id="rId17"/>
    <p:sldId id="273" r:id="rId18"/>
    <p:sldId id="274" r:id="rId19"/>
    <p:sldId id="275" r:id="rId20"/>
  </p:sldIdLst>
  <p:sldSz cx="18288000" cy="10287000"/>
  <p:notesSz cx="6858000" cy="9144000"/>
  <p:embeddedFontLst>
    <p:embeddedFont>
      <p:font typeface="Poppins Bold" panose="020B0604020202020204" charset="0"/>
      <p:regular r:id="rId21"/>
    </p:embeddedFont>
    <p:embeddedFont>
      <p:font typeface="Public San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tm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31620" flipH="1">
            <a:off x="5277259" y="-5894618"/>
            <a:ext cx="5404519" cy="10214726"/>
          </a:xfrm>
          <a:custGeom>
            <a:avLst/>
            <a:gdLst/>
            <a:ahLst/>
            <a:cxnLst/>
            <a:rect l="l" t="t" r="r" b="b"/>
            <a:pathLst>
              <a:path w="5404519" h="10214726">
                <a:moveTo>
                  <a:pt x="5404519" y="0"/>
                </a:moveTo>
                <a:lnTo>
                  <a:pt x="0" y="0"/>
                </a:lnTo>
                <a:lnTo>
                  <a:pt x="0" y="10214726"/>
                </a:lnTo>
                <a:lnTo>
                  <a:pt x="5404519" y="10214726"/>
                </a:lnTo>
                <a:lnTo>
                  <a:pt x="540451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510065" flipH="1" flipV="1">
            <a:off x="-220504" y="6884292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3295650"/>
            <a:ext cx="17148810" cy="3695700"/>
            <a:chOff x="0" y="0"/>
            <a:chExt cx="4516559" cy="9733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16559" cy="973353"/>
            </a:xfrm>
            <a:custGeom>
              <a:avLst/>
              <a:gdLst/>
              <a:ahLst/>
              <a:cxnLst/>
              <a:rect l="l" t="t" r="r" b="b"/>
              <a:pathLst>
                <a:path w="4516559" h="973353">
                  <a:moveTo>
                    <a:pt x="0" y="0"/>
                  </a:moveTo>
                  <a:lnTo>
                    <a:pt x="4516559" y="0"/>
                  </a:lnTo>
                  <a:lnTo>
                    <a:pt x="4516559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43E6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516559" cy="1011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15296962" y="5143688"/>
            <a:ext cx="4839076" cy="1143000"/>
            <a:chOff x="0" y="0"/>
            <a:chExt cx="860419" cy="2032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0419" cy="203233"/>
            </a:xfrm>
            <a:custGeom>
              <a:avLst/>
              <a:gdLst/>
              <a:ahLst/>
              <a:cxnLst/>
              <a:rect l="l" t="t" r="r" b="b"/>
              <a:pathLst>
                <a:path w="860419" h="203233">
                  <a:moveTo>
                    <a:pt x="203200" y="0"/>
                  </a:moveTo>
                  <a:lnTo>
                    <a:pt x="860419" y="0"/>
                  </a:lnTo>
                  <a:lnTo>
                    <a:pt x="657219" y="203233"/>
                  </a:lnTo>
                  <a:lnTo>
                    <a:pt x="0" y="20323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43E6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657219" cy="241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438338" y="1466850"/>
            <a:ext cx="7353488" cy="7353488"/>
            <a:chOff x="0" y="0"/>
            <a:chExt cx="1936721" cy="19367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36721" cy="1936721"/>
            </a:xfrm>
            <a:custGeom>
              <a:avLst/>
              <a:gdLst/>
              <a:ahLst/>
              <a:cxnLst/>
              <a:rect l="l" t="t" r="r" b="b"/>
              <a:pathLst>
                <a:path w="1936721" h="1936721">
                  <a:moveTo>
                    <a:pt x="126339" y="0"/>
                  </a:moveTo>
                  <a:lnTo>
                    <a:pt x="1810382" y="0"/>
                  </a:lnTo>
                  <a:cubicBezTo>
                    <a:pt x="1880157" y="0"/>
                    <a:pt x="1936721" y="56564"/>
                    <a:pt x="1936721" y="126339"/>
                  </a:cubicBezTo>
                  <a:lnTo>
                    <a:pt x="1936721" y="1810382"/>
                  </a:lnTo>
                  <a:cubicBezTo>
                    <a:pt x="1936721" y="1880157"/>
                    <a:pt x="1880157" y="1936721"/>
                    <a:pt x="1810382" y="1936721"/>
                  </a:cubicBezTo>
                  <a:lnTo>
                    <a:pt x="126339" y="1936721"/>
                  </a:lnTo>
                  <a:cubicBezTo>
                    <a:pt x="56564" y="1936721"/>
                    <a:pt x="0" y="1880157"/>
                    <a:pt x="0" y="1810382"/>
                  </a:cubicBezTo>
                  <a:lnTo>
                    <a:pt x="0" y="126339"/>
                  </a:lnTo>
                  <a:cubicBezTo>
                    <a:pt x="0" y="56564"/>
                    <a:pt x="56564" y="0"/>
                    <a:pt x="126339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36721" cy="1974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28838" y="1657256"/>
            <a:ext cx="6972488" cy="697248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16587" y="0"/>
                  </a:moveTo>
                  <a:lnTo>
                    <a:pt x="696213" y="0"/>
                  </a:lnTo>
                  <a:cubicBezTo>
                    <a:pt x="760602" y="0"/>
                    <a:pt x="812800" y="52198"/>
                    <a:pt x="812800" y="116587"/>
                  </a:cubicBezTo>
                  <a:lnTo>
                    <a:pt x="812800" y="696213"/>
                  </a:lnTo>
                  <a:cubicBezTo>
                    <a:pt x="812800" y="760602"/>
                    <a:pt x="760602" y="812800"/>
                    <a:pt x="696213" y="812800"/>
                  </a:cubicBezTo>
                  <a:lnTo>
                    <a:pt x="116587" y="812800"/>
                  </a:lnTo>
                  <a:cubicBezTo>
                    <a:pt x="52198" y="812800"/>
                    <a:pt x="0" y="760602"/>
                    <a:pt x="0" y="696213"/>
                  </a:cubicBezTo>
                  <a:lnTo>
                    <a:pt x="0" y="116587"/>
                  </a:lnTo>
                  <a:cubicBezTo>
                    <a:pt x="0" y="52198"/>
                    <a:pt x="52198" y="0"/>
                    <a:pt x="116587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 rot="-5400000">
            <a:off x="398552" y="397200"/>
            <a:ext cx="611098" cy="611098"/>
          </a:xfrm>
          <a:custGeom>
            <a:avLst/>
            <a:gdLst/>
            <a:ahLst/>
            <a:cxnLst/>
            <a:rect l="l" t="t" r="r" b="b"/>
            <a:pathLst>
              <a:path w="611098" h="611098">
                <a:moveTo>
                  <a:pt x="0" y="0"/>
                </a:moveTo>
                <a:lnTo>
                  <a:pt x="611098" y="0"/>
                </a:lnTo>
                <a:lnTo>
                  <a:pt x="611098" y="611098"/>
                </a:lnTo>
                <a:lnTo>
                  <a:pt x="0" y="611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19200" y="9796884"/>
            <a:ext cx="40903" cy="409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4078" tIns="74078" rIns="74078" bIns="7407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98552" y="3173118"/>
            <a:ext cx="9230286" cy="399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80"/>
              </a:lnSpc>
            </a:pPr>
            <a:r>
              <a:rPr lang="en-US" sz="9788" b="1" spc="-234">
                <a:solidFill>
                  <a:srgbClr val="5CEAD2"/>
                </a:solidFill>
                <a:latin typeface="Poppins Bold"/>
                <a:ea typeface="Poppins Bold"/>
                <a:cs typeface="Poppins Bold"/>
                <a:sym typeface="Poppins Bold"/>
              </a:rPr>
              <a:t>COLUMBIA ASIA</a:t>
            </a:r>
          </a:p>
          <a:p>
            <a:pPr algn="ctr">
              <a:lnSpc>
                <a:spcPts val="10180"/>
              </a:lnSpc>
            </a:pPr>
            <a:r>
              <a:rPr lang="en-US" sz="9788" b="1" spc="-234">
                <a:solidFill>
                  <a:srgbClr val="5CEAD2"/>
                </a:solidFill>
                <a:latin typeface="Poppins Bold"/>
                <a:ea typeface="Poppins Bold"/>
                <a:cs typeface="Poppins Bold"/>
                <a:sym typeface="Poppins Bold"/>
              </a:rPr>
              <a:t>HOSPITAL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58923" y="7546524"/>
            <a:ext cx="5377783" cy="111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7"/>
              </a:lnSpc>
            </a:pPr>
            <a:r>
              <a:rPr lang="en-US" sz="4103" b="1" spc="-98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-Anamika</a:t>
            </a:r>
          </a:p>
          <a:p>
            <a:pPr algn="ctr">
              <a:lnSpc>
                <a:spcPts val="4267"/>
              </a:lnSpc>
            </a:pPr>
            <a:r>
              <a:rPr lang="en-US" sz="4103" b="1" spc="-98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8783" y="2095500"/>
            <a:ext cx="7482690" cy="6096094"/>
            <a:chOff x="0" y="0"/>
            <a:chExt cx="99767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7677" cy="812800"/>
            </a:xfrm>
            <a:custGeom>
              <a:avLst/>
              <a:gdLst/>
              <a:ahLst/>
              <a:cxnLst/>
              <a:rect l="l" t="t" r="r" b="b"/>
              <a:pathLst>
                <a:path w="997677" h="812800">
                  <a:moveTo>
                    <a:pt x="0" y="0"/>
                  </a:moveTo>
                  <a:lnTo>
                    <a:pt x="997677" y="0"/>
                  </a:lnTo>
                  <a:lnTo>
                    <a:pt x="99767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1140" r="-1114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19200" y="9796884"/>
            <a:ext cx="40903" cy="4090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4078" tIns="74078" rIns="74078" bIns="7407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1502149" y="3304894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1502149" y="3976460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1502149" y="4648026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502149" y="5319592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1502149" y="5991157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1502149" y="6662723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1502149" y="2557424"/>
            <a:ext cx="488660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02149" y="3290607"/>
            <a:ext cx="488660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02149" y="3995563"/>
            <a:ext cx="488660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18789" y="5329343"/>
            <a:ext cx="638488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SUBJECTIVE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18789" y="4638675"/>
            <a:ext cx="5757151" cy="14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RECOMMENDATIONS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18789" y="6042025"/>
            <a:ext cx="5757151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40627" y="420687"/>
            <a:ext cx="6359723" cy="113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86161"/>
            <a:ext cx="16564946" cy="7493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3272" spc="25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Columbia Asia Hospital is a leading multi-specialty healthcare provider with a 300-bed capacity, serving a diverse patient population.</a:t>
            </a:r>
          </a:p>
          <a:p>
            <a:pPr algn="l">
              <a:lnSpc>
                <a:spcPts val="4161"/>
              </a:lnSpc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Scope: 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covers 9,216 visits (2019–2020), including: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demographics (age, gender, race)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metrics (wait times, department referrals)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data (revenue per visit, billing trends)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satisfaction (scores, feedback trends)</a:t>
            </a:r>
          </a:p>
          <a:p>
            <a:pPr algn="l">
              <a:lnSpc>
                <a:spcPts val="4161"/>
              </a:lnSpc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Challenges Identified: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wait times (avg. 35.25 mins), especially in Neurology (36.8 mins)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dissatisfaction (avg. score 5.9/10), with teens (5.77) and Asian males in Renal (3.17) scoring lowest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972" spc="2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concentration in General Practice (80%), indicating untapped potential in other departments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26079" y="2878640"/>
            <a:ext cx="10321082" cy="4919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39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top revenue-generating departments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39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wait times by 10%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39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satisfaction score to 6.5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39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services for middle-aged patients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39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racial disparities in care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39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Rebalance staff across shifts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39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targeted discount programs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8313" y="1120968"/>
            <a:ext cx="4764137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4" name="Freeform 4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0673" y="2184400"/>
            <a:ext cx="15158235" cy="810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patient_sat_score had missing values. These were imputed with the average satisfaction score (e.g., 5), using conditional replacement logic to avoid data loss.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the date column into separate visit_date and visit_time columns.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visit_date to proper Date format and visit_time to Time format.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Columns like patient_age, patient_waittime, and patient_sat_score were converted to appropriate numeric types.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and removed duplicate patient IDs with identical records using Power Query.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Merged the Hospital ER CSV data with the Doctor_Patients_data Excel table using patient_id to analyze patient visits along with billing and doctor info.</a:t>
            </a: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244871" y="790575"/>
            <a:ext cx="669116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</a:p>
        </p:txBody>
      </p:sp>
      <p:sp>
        <p:nvSpPr>
          <p:cNvPr id="4" name="Freeform 4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139" y="1338824"/>
            <a:ext cx="10246333" cy="877333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975102" y="616585"/>
            <a:ext cx="12775109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REVENUE BY DEPARTMENT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8486" y="2900175"/>
            <a:ext cx="7514170" cy="545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591" spc="2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General Practice generates ~₹40.7Cr (80% of revenue from 7,220 visits)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591" spc="2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Orthopedics contributes ₹5.5Cr from 992 visits (higher revenue/visit than average)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591" spc="2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Neurology has highest revenue/visit despite fewer patients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591" spc="2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591" spc="2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Monetize General Practice further with preventive care packages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591" spc="2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Premium pricing for Neurology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166" y="1743943"/>
            <a:ext cx="10108094" cy="835669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864468" y="828675"/>
            <a:ext cx="11975157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PATIENTS BY AGE GROUP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50861" y="2652505"/>
            <a:ext cx="7408439" cy="5732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978" spc="23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Middle-aged dominate (31%, 2,848 patients)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978" spc="23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Young Adults are 2nd largest (26%, 2,386 patients)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978" spc="23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Teens are most underserved (9%, 819 patients)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978" spc="23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978" spc="23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Launch chronic disease management for Middle-aged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978" spc="23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Teen health awareness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7" y="1220008"/>
            <a:ext cx="11789195" cy="9536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89753" y="527050"/>
            <a:ext cx="8599140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BILL BY MONTH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895143" y="3206496"/>
            <a:ext cx="5943589" cy="481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19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August 2020 peak (₹5.3Cr from 527 visits)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19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February 2020 dip (₹4.2Cr from 428 visits)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19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Stable ₹4.6-5.3Cr monthly range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19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19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Seasonal promotions in low months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19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Annual wellness packages to stabilize cash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862" y="1825340"/>
            <a:ext cx="7934945" cy="847567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515986" y="828675"/>
            <a:ext cx="12724954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PATIENTS BY DEPARTMENT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9238" y="2665696"/>
            <a:ext cx="6529487" cy="586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General Practice handles 78% visits (7,220)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Orthopedics is distant 2nd (992 visits)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Physiotherapy is least utilized (276 visits)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Redirect Orthopedics overflow to Physiotherapy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Promote Physiotherapy for preventive care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865" y="2190668"/>
            <a:ext cx="8917801" cy="687077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048229" y="828675"/>
            <a:ext cx="11705927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VISITS BY GENDER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7313" y="2985188"/>
            <a:ext cx="6302771" cy="533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3035" spc="23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Near-perfect 51% Male / 49% Female split</a:t>
            </a:r>
          </a:p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3035" spc="23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Males dominate Orthopedics (162M vs 147F in Middle-aged)</a:t>
            </a:r>
          </a:p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3035" spc="23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3035" spc="23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Gender-specific orthopedic wellness programs</a:t>
            </a:r>
          </a:p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3035" spc="23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Monitor for referral bias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477" y="1903816"/>
            <a:ext cx="8154544" cy="759596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139391" y="828675"/>
            <a:ext cx="11116717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VISITS BY SHIFTS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54940" y="2507161"/>
            <a:ext cx="7554290" cy="586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Insights: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Shift A handles most visits (2,762)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Off-hours still significant (1,787 visits)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Balanced distribution between shifts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Optimize staffing for Shift A peak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Incentivize off-hours utilization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434" y="2180949"/>
            <a:ext cx="10835117" cy="729670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638653" y="828675"/>
            <a:ext cx="8367415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DISCOUNTS ANALYSIS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24100"/>
            <a:ext cx="7793660" cy="693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Insights: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Medium discounts most common (911 cases)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High discounts least used (129 cases)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Strong correlation between discounts and satisfaction improvement</a:t>
            </a:r>
          </a:p>
          <a:p>
            <a:pPr algn="l">
              <a:lnSpc>
                <a:spcPts val="4200"/>
              </a:lnSpc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Expand medium discount programs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Targeted high discounts for at-risk groups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86524" y="828675"/>
            <a:ext cx="1267167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RACE VS AVG WAIT TIME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20900"/>
            <a:ext cx="8816620" cy="7716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5" spc="22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Insights: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95" spc="22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Native American patients have the highest wait time → 35.69 mins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95" spc="22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African American patients also experience above-average delays → 35.58 mins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95" spc="22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Pacific Islander patients have the lowest wait time → 34.64 mins</a:t>
            </a:r>
          </a:p>
          <a:p>
            <a:pPr algn="l">
              <a:lnSpc>
                <a:spcPts val="4054"/>
              </a:lnSpc>
            </a:pPr>
            <a:r>
              <a:rPr lang="en-US" sz="2895" spc="22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95" spc="22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Prioritize operational improvements in departments with higher wait times for Native American &amp; African American patients.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95" spc="22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Implement fast-track check-in or express consultation options for at-risk groups.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743" y="2633986"/>
            <a:ext cx="8461680" cy="61620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5425" y="449263"/>
            <a:ext cx="13802469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RACE VS AVG SATISFACTION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711325"/>
            <a:ext cx="8809826" cy="800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Insights: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All racial groups report satisfaction scores close to 5.9 on average.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Native American (5.96) and Pacific Islander (5.94) patients report the highest satisfaction.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Asian and White patients have slightly lower satisfaction (~5.87), but the difference is minor.</a:t>
            </a:r>
          </a:p>
          <a:p>
            <a:pPr algn="l">
              <a:lnSpc>
                <a:spcPts val="4200"/>
              </a:lnSpc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Maintain inclusive patient engagement practices across all racial groups.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Investigate department-wise patterns to understand subtle satisfaction differences.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649" y="2507055"/>
            <a:ext cx="8904929" cy="64857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6D651-7F3B-7E20-BB45-813E215B8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8790"/>
            <a:ext cx="17998276" cy="98977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62A73B-3874-15ED-9972-63142AB1A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3134"/>
            <a:ext cx="17983200" cy="988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42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9A90F-819B-1AC7-755B-789855188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58310"/>
            <a:ext cx="17884201" cy="101143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00717" y="1018414"/>
            <a:ext cx="4439543" cy="94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08143" y="2725037"/>
            <a:ext cx="12471714" cy="556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spc="2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General Practice drives volume, Neurology drives profit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spc="2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Neurology/Physiotherapy need process redesign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spc="2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Targeted interventions required for teens/Asian males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spc="2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Shift A requires 20% more resources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spc="2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Medium discounts most effective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spc="2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Quick wins: Teen clinics + neurologist hire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spc="2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1-min wait reduction → 0.2 satisfaction gain</a:t>
            </a:r>
          </a:p>
        </p:txBody>
      </p:sp>
      <p:sp>
        <p:nvSpPr>
          <p:cNvPr id="4" name="Freeform 4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31620" flipH="1">
            <a:off x="5277259" y="-5894618"/>
            <a:ext cx="5404519" cy="10214726"/>
          </a:xfrm>
          <a:custGeom>
            <a:avLst/>
            <a:gdLst/>
            <a:ahLst/>
            <a:cxnLst/>
            <a:rect l="l" t="t" r="r" b="b"/>
            <a:pathLst>
              <a:path w="5404519" h="10214726">
                <a:moveTo>
                  <a:pt x="5404519" y="0"/>
                </a:moveTo>
                <a:lnTo>
                  <a:pt x="0" y="0"/>
                </a:lnTo>
                <a:lnTo>
                  <a:pt x="0" y="10214726"/>
                </a:lnTo>
                <a:lnTo>
                  <a:pt x="5404519" y="10214726"/>
                </a:lnTo>
                <a:lnTo>
                  <a:pt x="540451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510065" flipH="1" flipV="1">
            <a:off x="-220504" y="6884292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3295650"/>
            <a:ext cx="17148810" cy="3695700"/>
            <a:chOff x="0" y="0"/>
            <a:chExt cx="4516559" cy="9733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16559" cy="973353"/>
            </a:xfrm>
            <a:custGeom>
              <a:avLst/>
              <a:gdLst/>
              <a:ahLst/>
              <a:cxnLst/>
              <a:rect l="l" t="t" r="r" b="b"/>
              <a:pathLst>
                <a:path w="4516559" h="973353">
                  <a:moveTo>
                    <a:pt x="0" y="0"/>
                  </a:moveTo>
                  <a:lnTo>
                    <a:pt x="4516559" y="0"/>
                  </a:lnTo>
                  <a:lnTo>
                    <a:pt x="4516559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43E6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516559" cy="1011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15296962" y="5143688"/>
            <a:ext cx="4839076" cy="1143000"/>
            <a:chOff x="0" y="0"/>
            <a:chExt cx="860419" cy="2032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0419" cy="203233"/>
            </a:xfrm>
            <a:custGeom>
              <a:avLst/>
              <a:gdLst/>
              <a:ahLst/>
              <a:cxnLst/>
              <a:rect l="l" t="t" r="r" b="b"/>
              <a:pathLst>
                <a:path w="860419" h="203233">
                  <a:moveTo>
                    <a:pt x="203200" y="0"/>
                  </a:moveTo>
                  <a:lnTo>
                    <a:pt x="860419" y="0"/>
                  </a:lnTo>
                  <a:lnTo>
                    <a:pt x="657219" y="203233"/>
                  </a:lnTo>
                  <a:lnTo>
                    <a:pt x="0" y="20323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43E6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657219" cy="241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86612" y="1466850"/>
            <a:ext cx="7353488" cy="7353488"/>
            <a:chOff x="0" y="0"/>
            <a:chExt cx="1936721" cy="19367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36721" cy="1936721"/>
            </a:xfrm>
            <a:custGeom>
              <a:avLst/>
              <a:gdLst/>
              <a:ahLst/>
              <a:cxnLst/>
              <a:rect l="l" t="t" r="r" b="b"/>
              <a:pathLst>
                <a:path w="1936721" h="1936721">
                  <a:moveTo>
                    <a:pt x="126339" y="0"/>
                  </a:moveTo>
                  <a:lnTo>
                    <a:pt x="1810382" y="0"/>
                  </a:lnTo>
                  <a:cubicBezTo>
                    <a:pt x="1880157" y="0"/>
                    <a:pt x="1936721" y="56564"/>
                    <a:pt x="1936721" y="126339"/>
                  </a:cubicBezTo>
                  <a:lnTo>
                    <a:pt x="1936721" y="1810382"/>
                  </a:lnTo>
                  <a:cubicBezTo>
                    <a:pt x="1936721" y="1880157"/>
                    <a:pt x="1880157" y="1936721"/>
                    <a:pt x="1810382" y="1936721"/>
                  </a:cubicBezTo>
                  <a:lnTo>
                    <a:pt x="126339" y="1936721"/>
                  </a:lnTo>
                  <a:cubicBezTo>
                    <a:pt x="56564" y="1936721"/>
                    <a:pt x="0" y="1880157"/>
                    <a:pt x="0" y="1810382"/>
                  </a:cubicBezTo>
                  <a:lnTo>
                    <a:pt x="0" y="126339"/>
                  </a:lnTo>
                  <a:cubicBezTo>
                    <a:pt x="0" y="56564"/>
                    <a:pt x="56564" y="0"/>
                    <a:pt x="126339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36721" cy="1974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77112" y="1657350"/>
            <a:ext cx="6972488" cy="697248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16587" y="0"/>
                  </a:moveTo>
                  <a:lnTo>
                    <a:pt x="696213" y="0"/>
                  </a:lnTo>
                  <a:cubicBezTo>
                    <a:pt x="760602" y="0"/>
                    <a:pt x="812800" y="52198"/>
                    <a:pt x="812800" y="116587"/>
                  </a:cubicBezTo>
                  <a:lnTo>
                    <a:pt x="812800" y="696213"/>
                  </a:lnTo>
                  <a:cubicBezTo>
                    <a:pt x="812800" y="760602"/>
                    <a:pt x="760602" y="812800"/>
                    <a:pt x="696213" y="812800"/>
                  </a:cubicBezTo>
                  <a:lnTo>
                    <a:pt x="116587" y="812800"/>
                  </a:lnTo>
                  <a:cubicBezTo>
                    <a:pt x="52198" y="812800"/>
                    <a:pt x="0" y="760602"/>
                    <a:pt x="0" y="696213"/>
                  </a:cubicBezTo>
                  <a:lnTo>
                    <a:pt x="0" y="116587"/>
                  </a:lnTo>
                  <a:cubicBezTo>
                    <a:pt x="0" y="52198"/>
                    <a:pt x="52198" y="0"/>
                    <a:pt x="116587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 rot="-5400000">
            <a:off x="398552" y="397200"/>
            <a:ext cx="611098" cy="611098"/>
          </a:xfrm>
          <a:custGeom>
            <a:avLst/>
            <a:gdLst/>
            <a:ahLst/>
            <a:cxnLst/>
            <a:rect l="l" t="t" r="r" b="b"/>
            <a:pathLst>
              <a:path w="611098" h="611098">
                <a:moveTo>
                  <a:pt x="0" y="0"/>
                </a:moveTo>
                <a:lnTo>
                  <a:pt x="611098" y="0"/>
                </a:lnTo>
                <a:lnTo>
                  <a:pt x="611098" y="611098"/>
                </a:lnTo>
                <a:lnTo>
                  <a:pt x="0" y="611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19200" y="9796884"/>
            <a:ext cx="40903" cy="409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4078" tIns="74078" rIns="74078" bIns="7407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3000" y="3715490"/>
            <a:ext cx="7543612" cy="277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9"/>
              </a:lnSpc>
            </a:pPr>
            <a:r>
              <a:rPr lang="en-US" sz="9999" b="1" spc="-239">
                <a:solidFill>
                  <a:srgbClr val="5CEAD2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10399"/>
              </a:lnSpc>
            </a:pPr>
            <a:r>
              <a:rPr lang="en-US" sz="9999" b="1" spc="-239">
                <a:solidFill>
                  <a:srgbClr val="5CEAD2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800</Words>
  <Application>Microsoft Office PowerPoint</Application>
  <PresentationFormat>Custom</PresentationFormat>
  <Paragraphs>113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Times New Roman</vt:lpstr>
      <vt:lpstr>Poppins Bold</vt:lpstr>
      <vt:lpstr>Calibri</vt:lpstr>
      <vt:lpstr>Arial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COLUMBIA ASIA HOSPITAL</dc:title>
  <cp:lastModifiedBy>Anchal Sarathe</cp:lastModifiedBy>
  <cp:revision>3</cp:revision>
  <dcterms:created xsi:type="dcterms:W3CDTF">2006-08-16T00:00:00Z</dcterms:created>
  <dcterms:modified xsi:type="dcterms:W3CDTF">2026-02-14T04:59:52Z</dcterms:modified>
  <dc:identifier>DAGqAQR4JdU</dc:identifier>
</cp:coreProperties>
</file>